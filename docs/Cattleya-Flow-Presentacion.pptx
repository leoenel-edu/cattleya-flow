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D13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389120"/>
            <a:ext cx="4114800" cy="4114800"/>
          </a:xfrm>
          <a:prstGeom prst="ellipse">
            <a:avLst/>
          </a:prstGeom>
          <a:solidFill>
            <a:srgbClr val="4A3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cattley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85800"/>
            <a:ext cx="1250343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488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BD9E9"/>
                </a:solidFill>
                <a:latin typeface="Calibri"/>
              </a:rPr>
              <a:t>HOTEL CATTLEYA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Cambria"/>
              </a:rPr>
              <a:t>Cattleya-Flow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FBD9E9"/>
                </a:solidFill>
                <a:latin typeface="Calibri"/>
              </a:rPr>
              <a:t>Plataforma web para la gestión de estados de habitaciones
y optimización del ciclo de limpieza en tiempo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B08A9C"/>
                </a:solidFill>
                <a:latin typeface="Calibri"/>
              </a:rP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93792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Bolaños Melanie   ·   Damian Emily   ·   Martinez Jostin   ·   Oñate Leonel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B08A9C"/>
                </a:solidFill>
                <a:latin typeface="Calibri"/>
              </a:rPr>
              <a:t>Ingeniería de Software · Ciencia de Datos e Inteligencia Artificial · P-2026S1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5A4351"/>
                </a:solidFill>
                <a:latin typeface="Cambria"/>
              </a:rPr>
              <a:t>Agenda de la exposición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B08A9C"/>
                </a:solidFill>
                <a:latin typeface="Calibri"/>
              </a:rPr>
              <a:t>4 partes · 12 minutos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594360" cy="594360"/>
          </a:xfrm>
          <a:prstGeom prst="ellipse">
            <a:avLst/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/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10312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5A4351"/>
                </a:solidFill>
                <a:latin typeface="Calibri"/>
              </a:rPr>
              <a:t>1. Problema y 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496312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B08A9C"/>
                </a:solidFill>
                <a:latin typeface="Calibri"/>
              </a:rPr>
              <a:t>Qué resolvemos y por qué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965960"/>
            <a:ext cx="1554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8489E"/>
                </a:solidFill>
                <a:latin typeface="Calibri"/>
              </a:rPr>
              <a:t>3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81528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264408"/>
            <a:ext cx="594360" cy="594360"/>
          </a:xfrm>
          <a:prstGeom prst="ellipse">
            <a:avLst/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64408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/>
              <a:t>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1868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5A4351"/>
                </a:solidFill>
                <a:latin typeface="Calibri"/>
              </a:rPr>
              <a:t>2. Requisitos, diseño y arquitectura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611880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B08A9C"/>
                </a:solidFill>
                <a:latin typeface="Calibri"/>
              </a:rPr>
              <a:t>Cómo pasamos de la idea al modelo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081528"/>
            <a:ext cx="1554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8489E"/>
                </a:solidFill>
                <a:latin typeface="Calibri"/>
              </a:rPr>
              <a:t>3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97096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4379976"/>
            <a:ext cx="594360" cy="594360"/>
          </a:xfrm>
          <a:prstGeom prst="ellipse">
            <a:avLst/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79976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/>
              <a:t>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334256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5A4351"/>
                </a:solidFill>
                <a:latin typeface="Calibri"/>
              </a:rPr>
              <a:t>3. Demostración en vivo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72744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B08A9C"/>
                </a:solidFill>
                <a:latin typeface="Calibri"/>
              </a:rPr>
              <a:t>El sistema funcionando de principio a fin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197096"/>
            <a:ext cx="1554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8489E"/>
                </a:solidFill>
                <a:latin typeface="Calibri"/>
              </a:rPr>
              <a:t>3 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12664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5495544"/>
            <a:ext cx="594360" cy="594360"/>
          </a:xfrm>
          <a:prstGeom prst="ellipse">
            <a:avLst/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495544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/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449824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5A4351"/>
                </a:solidFill>
                <a:latin typeface="Calibri"/>
              </a:rPr>
              <a:t>4. Seguridad, pruebas y cierre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843016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B08A9C"/>
                </a:solidFill>
                <a:latin typeface="Calibri"/>
              </a:rPr>
              <a:t>Cómo comprobamos que funciona bien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5312664"/>
            <a:ext cx="1554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E8489E"/>
                </a:solidFill>
                <a:latin typeface="Calibri"/>
              </a:rPr>
              <a:t>3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Cattleya-Flow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8489E"/>
                </a:solidFill>
                <a:latin typeface="Calibri"/>
              </a:rPr>
              <a:t>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5A4351"/>
                </a:solidFill>
                <a:latin typeface="Cambria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B08A9C"/>
                </a:solidFill>
                <a:latin typeface="Calibri"/>
              </a:rPr>
              <a:t>El Hotel Cattleya Real controla la limpieza de sus habitaciones de forma completamente manual.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429000" cy="3383280"/>
          </a:xfrm>
          <a:prstGeom prst="roundRect">
            <a:avLst>
              <a:gd name="adj" fmla="val 10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5146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822960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00"/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6616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5A4351"/>
                </a:solidFill>
                <a:latin typeface="Calibri"/>
              </a:rPr>
              <a:t>Registro en papel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2788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A4351"/>
                </a:solidFill>
                <a:latin typeface="Calibri"/>
              </a:rPr>
              <a:t>El personal anota en hojas físicas qué habitación terminó. Sin base de datos centralizada.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48840"/>
            <a:ext cx="3429000" cy="3383280"/>
          </a:xfrm>
          <a:prstGeom prst="roundRect">
            <a:avLst>
              <a:gd name="adj" fmla="val 10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25146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514600"/>
            <a:ext cx="822960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00"/>
              <a:t>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6616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5A4351"/>
                </a:solidFill>
                <a:latin typeface="Calibri"/>
              </a:rPr>
              <a:t>Demoras en check-in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251960"/>
            <a:ext cx="2788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A4351"/>
                </a:solidFill>
                <a:latin typeface="Calibri"/>
              </a:rPr>
              <a:t>Recepción llama piso por piso para saber qué habitación está libre. Pierde agilidad comercial.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429000" cy="3383280"/>
          </a:xfrm>
          <a:prstGeom prst="roundRect">
            <a:avLst>
              <a:gd name="adj" fmla="val 10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66760" y="25146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514600"/>
            <a:ext cx="822960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00"/>
              <a:t>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56616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5A4351"/>
                </a:solidFill>
                <a:latin typeface="Calibri"/>
              </a:rPr>
              <a:t>Cero visibilidad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251960"/>
            <a:ext cx="2788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A4351"/>
                </a:solidFill>
                <a:latin typeface="Calibri"/>
              </a:rPr>
              <a:t>La administración no puede medir tiempos de limpieza ni carga de trabajo por empleado.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15000"/>
            <a:ext cx="10881360" cy="594360"/>
          </a:xfrm>
          <a:prstGeom prst="roundRect">
            <a:avLst>
              <a:gd name="adj" fmla="val 10000"/>
            </a:avLst>
          </a:prstGeom>
          <a:solidFill>
            <a:srgbClr val="5A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15000"/>
            <a:ext cx="10332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1">
                <a:solidFill>
                  <a:srgbClr val="FFFFFF"/>
                </a:solidFill>
                <a:latin typeface="Calibri"/>
              </a:rPr>
              <a:t>Todo lo que van a ver corre con datos reales, guardados en una base de datos — no simulados.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Cattleya-Flow · Parte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A3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BD9E9"/>
                </a:solidFill>
                <a:latin typeface="Calibri"/>
              </a:rPr>
              <a:t>OBJETIVO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“Automatizar el control del ciclo de limpieza
con actualización en tiempo real
y trazabilidad completa de cada acción.”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89204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 i="0">
                <a:solidFill>
                  <a:srgbClr val="E8489E"/>
                </a:solidFill>
                <a:latin typeface="Cambria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6235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FBD9E9"/>
                </a:solidFill>
                <a:latin typeface="Calibri"/>
              </a:rPr>
              <a:t>requisitos
ISO/IEC/IEEE 29148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489204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 i="0">
                <a:solidFill>
                  <a:srgbClr val="E8489E"/>
                </a:solidFill>
                <a:latin typeface="Cambria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56235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FBD9E9"/>
                </a:solidFill>
                <a:latin typeface="Calibri"/>
              </a:rPr>
              <a:t>casos de uso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89204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 i="0">
                <a:solidFill>
                  <a:srgbClr val="E8489E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6235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FBD9E9"/>
                </a:solidFill>
                <a:latin typeface="Calibri"/>
              </a:rPr>
              <a:t>sistema funcional,
no un prototipo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Cattleya-Flow · Parte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8489E"/>
                </a:solidFill>
                <a:latin typeface="Calibri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5A4351"/>
                </a:solidFill>
                <a:latin typeface="Cambria"/>
              </a:rPr>
              <a:t>De la entrevista al requisito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57800" cy="1920240"/>
          </a:xfrm>
          <a:prstGeom prst="roundRect">
            <a:avLst>
              <a:gd name="adj" fmla="val 10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96596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8580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/>
              <a:t>🗣️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6596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5A4351"/>
                </a:solidFill>
                <a:latin typeface="Calibri"/>
              </a:rPr>
              <a:t>Entrevistas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95728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A4351"/>
                </a:solidFill>
                <a:latin typeface="Calibri"/>
              </a:rPr>
              <a:t>Personal administrativo y recepción.
Profundizan el problema de toma de decisiones.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91640"/>
            <a:ext cx="5394960" cy="1920240"/>
          </a:xfrm>
          <a:prstGeom prst="roundRect">
            <a:avLst>
              <a:gd name="adj" fmla="val 10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96596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68580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/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9659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5A4351"/>
                </a:solidFill>
                <a:latin typeface="Calibri"/>
              </a:rPr>
              <a:t>Encuestas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395728"/>
            <a:ext cx="411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A4351"/>
                </a:solidFill>
                <a:latin typeface="Calibri"/>
              </a:rPr>
              <a:t>Personal de limpieza.
Revelan el uso tecnológico y las preferencias reales.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86200"/>
            <a:ext cx="10881360" cy="1417320"/>
          </a:xfrm>
          <a:prstGeom prst="roundRect">
            <a:avLst>
              <a:gd name="adj" fmla="val 10000"/>
            </a:avLst>
          </a:prstGeom>
          <a:solidFill>
            <a:srgbClr val="5A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690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BD9E9"/>
                </a:solidFill>
                <a:latin typeface="Calibri"/>
              </a:rPr>
              <a:t>HALLAZGO CLAVE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0740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El personal de limpieza prefiere usar su propio celular, no una computadora.
→ Definió que el sistema debe usarse sin hacer zoom, en cualquier pantalla.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B08A9C"/>
                </a:solidFill>
                <a:latin typeface="Calibri"/>
              </a:rPr>
              <a:t>Resultado: 18 requisitos documentados bajo ISO/IEC/IEEE 29148 — de negocio, de stakeholder, funcionales y no funcionales.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Cattleya-Flow · Parte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8489E"/>
                </a:solidFill>
                <a:latin typeface="Calibri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5A4351"/>
                </a:solidFill>
                <a:latin typeface="Cambria"/>
              </a:rPr>
              <a:t>Diseño antes de programar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B08A9C"/>
                </a:solidFill>
                <a:latin typeface="Calibri"/>
              </a:rPr>
              <a:t>6 entidades, con sus relaciones — cada método del código ya existía aquí antes de escribirse.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9047" y="1691640"/>
            <a:ext cx="5083426" cy="4709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D9E9"/>
            </a:solidFill>
          </a:ln>
          <a:effectLst>
            <a:outerShdw blurRad="90000" dist="30000" dir="5400000" rotWithShape="0">
              <a:srgbClr val="5A435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-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487" y="1783080"/>
            <a:ext cx="4900546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Cattleya-Flow · Parte 2 · Diagrama de clases unificado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8489E"/>
                </a:solidFill>
                <a:latin typeface="Calibri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5A4351"/>
                </a:solidFill>
                <a:latin typeface="Cambria"/>
              </a:rPr>
              <a:t>Arquitectura por capas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45547" y="1417320"/>
            <a:ext cx="3161065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D9E9"/>
            </a:solidFill>
          </a:ln>
          <a:effectLst>
            <a:outerShdw blurRad="90000" dist="30000" dir="5400000" rotWithShape="0">
              <a:srgbClr val="5A435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-c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87" y="1508760"/>
            <a:ext cx="2978185" cy="484632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577840" y="1691640"/>
            <a:ext cx="640080" cy="640080"/>
          </a:xfrm>
          <a:prstGeom prst="ellipse">
            <a:avLst/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691640"/>
            <a:ext cx="6400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/>
              <a:t>🖥️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099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5A4351"/>
                </a:solidFill>
                <a:latin typeface="Calibri"/>
              </a:rPr>
              <a:t>Presentación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93976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B08A9C"/>
                </a:solidFill>
                <a:latin typeface="Calibri"/>
              </a:rPr>
              <a:t>Lo que el usuario ve y toca — HTML, CSS, JavaScript.</a:t>
            </a:r>
          </a:p>
        </p:txBody>
      </p:sp>
      <p:sp>
        <p:nvSpPr>
          <p:cNvPr id="11" name="Oval 10"/>
          <p:cNvSpPr/>
          <p:nvPr/>
        </p:nvSpPr>
        <p:spPr>
          <a:xfrm>
            <a:off x="5577840" y="2743200"/>
            <a:ext cx="640080" cy="640080"/>
          </a:xfrm>
          <a:prstGeom prst="ellipse">
            <a:avLst/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2743200"/>
            <a:ext cx="6400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/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614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5A4351"/>
                </a:solidFill>
                <a:latin typeface="Calibri"/>
              </a:rPr>
              <a:t>Lógica de negocio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45536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B08A9C"/>
                </a:solidFill>
                <a:latin typeface="Calibri"/>
              </a:rPr>
              <a:t>Las reglas del sistema — validaciones, cálculos, permisos.</a:t>
            </a:r>
          </a:p>
        </p:txBody>
      </p:sp>
      <p:sp>
        <p:nvSpPr>
          <p:cNvPr id="15" name="Oval 14"/>
          <p:cNvSpPr/>
          <p:nvPr/>
        </p:nvSpPr>
        <p:spPr>
          <a:xfrm>
            <a:off x="5577840" y="3794760"/>
            <a:ext cx="640080" cy="640080"/>
          </a:xfrm>
          <a:prstGeom prst="ellipse">
            <a:avLst/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3794760"/>
            <a:ext cx="6400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/>
              <a:t>🗄️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130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5A4351"/>
                </a:solidFill>
                <a:latin typeface="Calibri"/>
              </a:rPr>
              <a:t>Datos y persistencia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97096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B08A9C"/>
                </a:solidFill>
                <a:latin typeface="Calibri"/>
              </a:rPr>
              <a:t>Acceso a la base de datos — modelos y repositorios.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4983480"/>
            <a:ext cx="5806440" cy="1051560"/>
          </a:xfrm>
          <a:prstGeom prst="roundRect">
            <a:avLst>
              <a:gd name="adj" fmla="val 10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5138928"/>
            <a:ext cx="5303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1">
                <a:solidFill>
                  <a:srgbClr val="5A4351"/>
                </a:solidFill>
                <a:latin typeface="Calibri"/>
              </a:rPr>
              <a:t>Cada capa solo depende de la de abajo.
Se puede cambiar la base de datos sin tocar el resto del sistema.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Cattleya-Flow · Parte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8489E"/>
                </a:solidFill>
                <a:latin typeface="Calibri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5A4351"/>
                </a:solidFill>
                <a:latin typeface="Cambria"/>
              </a:rPr>
              <a:t>Estimación de esfuerzo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B08A9C"/>
                </a:solidFill>
                <a:latin typeface="Calibri"/>
              </a:rPr>
              <a:t>Técnica: descomposición del trabajo (WBS) — cada fase con su complejidad relativa traducida en horas.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75895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5A4351"/>
                </a:solidFill>
                <a:latin typeface="Calibri"/>
              </a:rPr>
              <a:t>Requisitos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965960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B08A9C"/>
                </a:solidFill>
                <a:latin typeface="Calibri"/>
              </a:rPr>
              <a:t>Entrevistas, encuestas, matriz ISO 29148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70632"/>
            <a:ext cx="75895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5A4351"/>
                </a:solidFill>
                <a:latin typeface="Calibri"/>
              </a:rPr>
              <a:t>Análisis y diseño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770632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B08A9C"/>
                </a:solidFill>
                <a:latin typeface="Calibri"/>
              </a:rPr>
              <a:t>Diagrama de clases + 6 diagramas de secuencia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75304"/>
            <a:ext cx="75895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75304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5A4351"/>
                </a:solidFill>
                <a:latin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75304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B08A9C"/>
                </a:solidFill>
                <a:latin typeface="Calibri"/>
              </a:rPr>
              <a:t>Modelos, servicios, seguridad,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79976"/>
            <a:ext cx="75895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79976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5A4351"/>
                </a:solidFill>
                <a:latin typeface="Calibri"/>
              </a:rPr>
              <a:t>Frontend y funciones extra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379976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B08A9C"/>
                </a:solidFill>
                <a:latin typeface="Calibri"/>
              </a:rPr>
              <a:t>Interfaz, WebSocket, QR, reportes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84648"/>
            <a:ext cx="75895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84648"/>
            <a:ext cx="2743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5A4351"/>
                </a:solidFill>
                <a:latin typeface="Calibri"/>
              </a:rPr>
              <a:t>Verificación y documentación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184648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B08A9C"/>
                </a:solidFill>
                <a:latin typeface="Calibri"/>
              </a:rPr>
              <a:t>53 pruebas automáticas + informe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1965960"/>
            <a:ext cx="3017520" cy="3794760"/>
          </a:xfrm>
          <a:prstGeom prst="roundRect">
            <a:avLst>
              <a:gd name="adj" fmla="val 10000"/>
            </a:avLst>
          </a:prstGeom>
          <a:solidFill>
            <a:srgbClr val="5A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06324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5600" b="1" i="0">
                <a:solidFill>
                  <a:srgbClr val="E8489E"/>
                </a:solidFill>
                <a:latin typeface="Cambria"/>
              </a:rPr>
              <a:t>~70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977639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horas de equipo
en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Cattleya-Flow · Parte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743200"/>
            <a:ext cx="5486400" cy="5486400"/>
          </a:xfrm>
          <a:prstGeom prst="ellipse">
            <a:avLst/>
          </a:prstGeom>
          <a:solidFill>
            <a:srgbClr val="D13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BD9E9"/>
                </a:solidFill>
                <a:latin typeface="Calibri"/>
              </a:rPr>
              <a:t>PARTE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889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Demostración en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FBD9E9"/>
                </a:solidFill>
                <a:latin typeface="Calibri"/>
              </a:rPr>
              <a:t>1 login  ·  5 pantallas  ·  4 ventanas emergentes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4754880"/>
            <a:ext cx="868680" cy="868680"/>
          </a:xfrm>
          <a:prstGeom prst="ellipse">
            <a:avLst/>
          </a:prstGeom>
          <a:solidFill>
            <a:srgbClr val="4A3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868680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400"/>
              <a:t>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15000"/>
            <a:ext cx="1325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BD9E9"/>
                </a:solidFill>
                <a:latin typeface="Calibri"/>
              </a:rPr>
              <a:t>Panel</a:t>
            </a:r>
          </a:p>
        </p:txBody>
      </p:sp>
      <p:sp>
        <p:nvSpPr>
          <p:cNvPr id="10" name="Oval 9"/>
          <p:cNvSpPr/>
          <p:nvPr/>
        </p:nvSpPr>
        <p:spPr>
          <a:xfrm>
            <a:off x="2971800" y="4754880"/>
            <a:ext cx="868680" cy="868680"/>
          </a:xfrm>
          <a:prstGeom prst="ellipse">
            <a:avLst/>
          </a:prstGeom>
          <a:solidFill>
            <a:srgbClr val="4A3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4754880"/>
            <a:ext cx="868680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400"/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715000"/>
            <a:ext cx="1325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BD9E9"/>
                </a:solidFill>
                <a:latin typeface="Calibri"/>
              </a:rPr>
              <a:t>Cambiar Estado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4754880"/>
            <a:ext cx="868680" cy="868680"/>
          </a:xfrm>
          <a:prstGeom prst="ellipse">
            <a:avLst/>
          </a:prstGeom>
          <a:solidFill>
            <a:srgbClr val="4A3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754880"/>
            <a:ext cx="868680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400"/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5715000"/>
            <a:ext cx="1325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BD9E9"/>
                </a:solidFill>
                <a:latin typeface="Calibri"/>
              </a:rPr>
              <a:t>Historial</a:t>
            </a:r>
          </a:p>
        </p:txBody>
      </p:sp>
      <p:sp>
        <p:nvSpPr>
          <p:cNvPr id="16" name="Oval 15"/>
          <p:cNvSpPr/>
          <p:nvPr/>
        </p:nvSpPr>
        <p:spPr>
          <a:xfrm>
            <a:off x="7086600" y="4754880"/>
            <a:ext cx="868680" cy="868680"/>
          </a:xfrm>
          <a:prstGeom prst="ellipse">
            <a:avLst/>
          </a:prstGeom>
          <a:solidFill>
            <a:srgbClr val="4A3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868680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400"/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715000"/>
            <a:ext cx="1325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BD9E9"/>
                </a:solidFill>
                <a:latin typeface="Calibri"/>
              </a:rPr>
              <a:t>Reportes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0" y="4754880"/>
            <a:ext cx="868680" cy="868680"/>
          </a:xfrm>
          <a:prstGeom prst="ellipse">
            <a:avLst/>
          </a:prstGeom>
          <a:solidFill>
            <a:srgbClr val="4A3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4754880"/>
            <a:ext cx="868680" cy="868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400"/>
              <a:t>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5715000"/>
            <a:ext cx="1325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FBD9E9"/>
                </a:solidFill>
                <a:latin typeface="Calibri"/>
              </a:rPr>
              <a:t>Usuarios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Cattleya-Flow · Parte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8489E"/>
                </a:solidFill>
                <a:latin typeface="Calibri"/>
              </a:rPr>
              <a:t>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5A4351"/>
                </a:solidFill>
                <a:latin typeface="Cambria"/>
              </a:rPr>
              <a:t>Las 5 pantallas del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panel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554480"/>
            <a:ext cx="292608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38328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5A4351"/>
                </a:solidFill>
                <a:latin typeface="Calibri"/>
              </a:rPr>
              <a:t>1. Panel de Habitaciones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-cambiar-es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580" y="1554480"/>
            <a:ext cx="292608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43400" y="338328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5A4351"/>
                </a:solidFill>
                <a:latin typeface="Calibri"/>
              </a:rPr>
              <a:t>2. Cambiar Estado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7-histor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059" y="1554480"/>
            <a:ext cx="292608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3879" y="338328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5A4351"/>
                </a:solidFill>
                <a:latin typeface="Calibri"/>
              </a:rPr>
              <a:t>3. Historial de Limpieza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3977639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8-repor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0340" y="4114799"/>
            <a:ext cx="292608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23160" y="5943599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5A4351"/>
                </a:solidFill>
                <a:latin typeface="Calibri"/>
              </a:rPr>
              <a:t>4. Reportes de Productividad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977639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9-usuari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20" y="4114799"/>
            <a:ext cx="2926080" cy="1828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5943599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5A4351"/>
                </a:solidFill>
                <a:latin typeface="Calibri"/>
              </a:rPr>
              <a:t>5. Gestionar Usuarios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Cattleya-Flow · Parte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8489E"/>
                </a:solidFill>
                <a:latin typeface="Calibri"/>
              </a:rPr>
              <a:t>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5A4351"/>
                </a:solidFill>
                <a:latin typeface="Cambria"/>
              </a:rPr>
              <a:t>Recorrido en 6 pasos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81912"/>
            <a:ext cx="502920" cy="502920"/>
          </a:xfrm>
          <a:prstGeom prst="ellipse">
            <a:avLst/>
          </a:prstGeom>
          <a:solidFill>
            <a:srgbClr val="E84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1508760"/>
            <a:ext cx="101955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8191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5A4351"/>
                </a:solidFill>
                <a:latin typeface="Calibri"/>
              </a:rPr>
              <a:t>Login como 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B08A9C"/>
                </a:solidFill>
                <a:latin typeface="Calibri"/>
              </a:rPr>
              <a:t>El rol lo decide el servidor, no un menú.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350008"/>
            <a:ext cx="502920" cy="502920"/>
          </a:xfrm>
          <a:prstGeom prst="ellipse">
            <a:avLst/>
          </a:prstGeom>
          <a:solidFill>
            <a:srgbClr val="E84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2276856"/>
            <a:ext cx="101955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35000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5A4351"/>
                </a:solidFill>
                <a:latin typeface="Calibri"/>
              </a:rPr>
              <a:t>Panel de Habitaciones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368296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B08A9C"/>
                </a:solidFill>
                <a:latin typeface="Calibri"/>
              </a:rPr>
              <a:t>24 habitaciones — se actualiza sola, sin recargar.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118104"/>
            <a:ext cx="502920" cy="502920"/>
          </a:xfrm>
          <a:prstGeom prst="ellipse">
            <a:avLst/>
          </a:prstGeom>
          <a:solidFill>
            <a:srgbClr val="E84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18104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3044952"/>
            <a:ext cx="101955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118104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5A4351"/>
                </a:solidFill>
                <a:latin typeface="Calibri"/>
              </a:rPr>
              <a:t>Cambiar sesión → Personal de Limpieza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13639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B08A9C"/>
                </a:solidFill>
                <a:latin typeface="Calibri"/>
              </a:rPr>
              <a:t>Solo aparecen los botones que su rol puede usar.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E84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3813048"/>
            <a:ext cx="101955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8862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5A4351"/>
                </a:solidFill>
                <a:latin typeface="Calibri"/>
              </a:rPr>
              <a:t>Escanear QR (o escribir número)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904488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B08A9C"/>
                </a:solidFill>
                <a:latin typeface="Calibri"/>
              </a:rPr>
              <a:t>El QR es un enlace real, no una imagen decorativa.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4654296"/>
            <a:ext cx="502920" cy="502920"/>
          </a:xfrm>
          <a:prstGeom prst="ellipse">
            <a:avLst/>
          </a:prstGeom>
          <a:solidFill>
            <a:srgbClr val="5A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54296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" y="4581144"/>
            <a:ext cx="10195560" cy="658368"/>
          </a:xfrm>
          <a:prstGeom prst="roundRect">
            <a:avLst>
              <a:gd name="adj" fmla="val 10000"/>
            </a:avLst>
          </a:prstGeom>
          <a:solidFill>
            <a:srgbClr val="E84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4654296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Volver a sesión Admin → Panel actualizado solo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672584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BD9E9"/>
                </a:solidFill>
                <a:latin typeface="Calibri"/>
              </a:rPr>
              <a:t>MOMENTO CLAVE: tiempo real en menos de 5 segundos.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422392"/>
            <a:ext cx="502920" cy="502920"/>
          </a:xfrm>
          <a:prstGeom prst="ellipse">
            <a:avLst/>
          </a:prstGeom>
          <a:solidFill>
            <a:srgbClr val="E84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422392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25880" y="5349240"/>
            <a:ext cx="1019556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542239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5A4351"/>
                </a:solidFill>
                <a:latin typeface="Calibri"/>
              </a:rPr>
              <a:t>Reportes → exportar Excel → abrir archivo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44068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B08A9C"/>
                </a:solidFill>
                <a:latin typeface="Calibri"/>
              </a:rPr>
              <a:t>Los números vienen de registros reales.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Cattleya-Flow · Parte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8489E"/>
                </a:solidFill>
                <a:latin typeface="Calibri"/>
              </a:rPr>
              <a:t>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5A4351"/>
                </a:solidFill>
                <a:latin typeface="Cambria"/>
              </a:rPr>
              <a:t>Escanear y actualizar — en segundos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532120" cy="352615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D9E9"/>
            </a:solidFill>
          </a:ln>
          <a:effectLst>
            <a:outerShdw blurRad="90000" dist="30000" dir="5400000" rotWithShape="0">
              <a:srgbClr val="5A435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-modal-qr-habit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349240" cy="33432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72200" y="1508760"/>
            <a:ext cx="5532120" cy="352615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D9E9"/>
            </a:solidFill>
          </a:ln>
          <a:effectLst>
            <a:outerShdw blurRad="90000" dist="30000" dir="5400000" rotWithShape="0">
              <a:srgbClr val="5A435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-panel-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5349240" cy="334327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623560" y="3429000"/>
            <a:ext cx="822960" cy="822960"/>
          </a:xfrm>
          <a:prstGeom prst="ellipse">
            <a:avLst/>
          </a:prstGeom>
          <a:solidFill>
            <a:srgbClr val="E84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3429000"/>
            <a:ext cx="822960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000"/>
              <a:t>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7220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B08A9C"/>
                </a:solidFill>
                <a:latin typeface="Calibri"/>
              </a:rPr>
              <a:t>El personal escanea y cambia el estado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617220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8489E"/>
                </a:solidFill>
                <a:latin typeface="Calibri"/>
              </a:rPr>
              <a:t>Recepción lo ve solo, sin recargar (&lt; 5 seg)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Cattleya-Flow · Parte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8489E"/>
                </a:solidFill>
                <a:latin typeface="Calibri"/>
              </a:rPr>
              <a:t>PARTE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5A4351"/>
                </a:solidFill>
                <a:latin typeface="Cambria"/>
              </a:rPr>
              <a:t>Seguridad — 3 mecanismos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29000" cy="3794760"/>
          </a:xfrm>
          <a:prstGeom prst="roundRect">
            <a:avLst>
              <a:gd name="adj" fmla="val 10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97380" y="224028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97380" y="2240280"/>
            <a:ext cx="914400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600"/>
              <a:t>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5A4351"/>
                </a:solidFill>
                <a:latin typeface="Calibri"/>
              </a:rPr>
              <a:t>bcrypt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D1327F"/>
                </a:solidFill>
                <a:latin typeface="Calibri"/>
              </a:rPr>
              <a:t>protege: Contraseñas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51960"/>
            <a:ext cx="2606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5A4351"/>
                </a:solidFill>
                <a:latin typeface="Calibri"/>
              </a:rPr>
              <a:t>Hash irreversible. Ni el propio equipo puede leerlas en la base de datos.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429000" cy="3794760"/>
          </a:xfrm>
          <a:prstGeom prst="roundRect">
            <a:avLst>
              <a:gd name="adj" fmla="val 10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0700" y="224028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00700" y="2240280"/>
            <a:ext cx="914400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600"/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337560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5A4351"/>
                </a:solidFill>
                <a:latin typeface="Calibri"/>
              </a:rPr>
              <a:t>AES-256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79476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D1327F"/>
                </a:solidFill>
                <a:latin typeface="Calibri"/>
              </a:rPr>
              <a:t>protege: Correo electrónico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251960"/>
            <a:ext cx="2606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5A4351"/>
                </a:solidFill>
                <a:latin typeface="Calibri"/>
              </a:rPr>
              <a:t>Cifrado reversible — el mismo estándar que usan bancos y gobiernos.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74519"/>
            <a:ext cx="3429000" cy="3794760"/>
          </a:xfrm>
          <a:prstGeom prst="roundRect">
            <a:avLst>
              <a:gd name="adj" fmla="val 10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04020" y="224028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4020" y="2240280"/>
            <a:ext cx="914400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600"/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37560"/>
            <a:ext cx="2880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5A4351"/>
                </a:solidFill>
                <a:latin typeface="Calibri"/>
              </a:rPr>
              <a:t>JWT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79476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D1327F"/>
                </a:solidFill>
                <a:latin typeface="Calibri"/>
              </a:rPr>
              <a:t>protege: Sesiones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251960"/>
            <a:ext cx="2606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5A4351"/>
                </a:solidFill>
                <a:latin typeface="Calibri"/>
              </a:rPr>
              <a:t>Token firmado digitalmente. Expira solo, a las 8 horas.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Cattleya-Flow · Parte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BD9E9"/>
                </a:solidFill>
                <a:latin typeface="Calibri"/>
              </a:rPr>
              <a:t>PARTE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Verificación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FBD9E9"/>
                </a:solidFill>
                <a:latin typeface="Calibri"/>
              </a:rPr>
              <a:t>Suite de pruebas automáticas.
Cubre los 6 casos de uso y sus errores:
401, 403, 404, 409, 422.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0" b="1" i="0">
                <a:solidFill>
                  <a:srgbClr val="E8489E"/>
                </a:solidFill>
                <a:latin typeface="Cambria"/>
              </a:rPr>
              <a:t>53/53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4348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verificaciones automáticas exitosas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21769" y="640080"/>
            <a:ext cx="4318781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D9E9"/>
            </a:solidFill>
          </a:ln>
          <a:effectLst>
            <a:outerShdw blurRad="90000" dist="30000" dir="5400000" rotWithShape="0">
              <a:srgbClr val="5A435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6-terminal-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209" y="731520"/>
            <a:ext cx="4135901" cy="5486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Cattleya-Flow · Parte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8489E"/>
                </a:solidFill>
                <a:latin typeface="Calibri"/>
              </a:rPr>
              <a:t>PARTE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5A4351"/>
                </a:solidFill>
                <a:latin typeface="Cambria"/>
              </a:rPr>
              <a:t>Preguntas esperadas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/>
              <a:t>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01368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5A4351"/>
                </a:solidFill>
                <a:latin typeface="Calibri"/>
              </a:rPr>
              <a:t>¿Por qué SQLite y no PostgreSQL?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67128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B08A9C"/>
                </a:solidFill>
                <a:latin typeface="Calibri"/>
              </a:rPr>
              <a:t>No requiere instalación; migrar es cambiar una línea de configuración.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971800"/>
            <a:ext cx="594360" cy="594360"/>
          </a:xfrm>
          <a:prstGeom prst="ellipse">
            <a:avLst/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71800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/>
              <a:t>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98648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5A4351"/>
                </a:solidFill>
                <a:latin typeface="Calibri"/>
              </a:rPr>
              <a:t>¿El QR funciona de verdad?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64408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B08A9C"/>
                </a:solidFill>
                <a:latin typeface="Calibri"/>
              </a:rPr>
              <a:t>Codifica una URL real; la cámara del celular la abre directo.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86200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069080"/>
            <a:ext cx="594360" cy="594360"/>
          </a:xfrm>
          <a:prstGeom prst="ellipse">
            <a:avLst/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69080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/>
              <a:t>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995928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5A4351"/>
                </a:solidFill>
                <a:latin typeface="Calibri"/>
              </a:rPr>
              <a:t>¿Dos personas cambian el mismo estado a la vez?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361688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B08A9C"/>
                </a:solidFill>
                <a:latin typeface="Calibri"/>
              </a:rPr>
              <a:t>El servidor valida contra el estado actual antes de guardar.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83480"/>
            <a:ext cx="108813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5166360"/>
            <a:ext cx="594360" cy="594360"/>
          </a:xfrm>
          <a:prstGeom prst="ellipse">
            <a:avLst/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66360"/>
            <a:ext cx="59436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/>
              <a:t>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093208"/>
            <a:ext cx="9052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5A4351"/>
                </a:solidFill>
                <a:latin typeface="Calibri"/>
              </a:rPr>
              <a:t>¿Funciona sin internet?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458968"/>
            <a:ext cx="9052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B08A9C"/>
                </a:solidFill>
                <a:latin typeface="Calibri"/>
              </a:rPr>
              <a:t>Corre en la red local del hotel; solo necesita la misma WiFi.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Cattleya-Flow · Parte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4114800"/>
            <a:ext cx="5943600" cy="5943600"/>
          </a:xfrm>
          <a:prstGeom prst="ellipse">
            <a:avLst/>
          </a:prstGeom>
          <a:solidFill>
            <a:srgbClr val="4A3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2286000"/>
            <a:ext cx="5029200" cy="5029200"/>
          </a:xfrm>
          <a:prstGeom prst="ellipse">
            <a:avLst/>
          </a:prstGeom>
          <a:solidFill>
            <a:srgbClr val="D13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cattleya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463040"/>
            <a:ext cx="161809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78892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Del problema real de un hotel, a un sistema
verificado con 53 pruebas automáticas.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E8489E"/>
                </a:solidFill>
                <a:latin typeface="Cambria"/>
              </a:rPr>
              <a:t>Gracias.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FBD9E9"/>
                </a:solidFill>
                <a:latin typeface="Calibri"/>
              </a:rPr>
              <a:t>Bolaños Melanie · Damian Emily · Martinez Jostin · Oñate Leonel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8489E"/>
                </a:solidFill>
                <a:latin typeface="Calibri"/>
              </a:rPr>
              <a:t>ANEXO · PREGUNTA DE RESPALDO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5A4351"/>
                </a:solidFill>
                <a:latin typeface="Cambria"/>
              </a:rPr>
              <a:t>¿Cuánto costaría con COCOMO?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B08A9C"/>
                </a:solidFill>
                <a:latin typeface="Calibri"/>
              </a:rPr>
              <a:t>Modelo Constructivo de Costos, Básico — modo Orgánico (equipo pequeño, dominio conocido, requisitos flexibles).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560320" cy="1920240"/>
          </a:xfrm>
          <a:prstGeom prst="roundRect">
            <a:avLst>
              <a:gd name="adj" fmla="val 10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E8489E"/>
                </a:solidFill>
                <a:latin typeface="Cambria"/>
              </a:rPr>
              <a:t>5.077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5A4351"/>
                </a:solidFill>
                <a:latin typeface="Calibri"/>
              </a:rPr>
              <a:t>KLOC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B08A9C"/>
                </a:solidFill>
                <a:latin typeface="Calibri"/>
              </a:rPr>
              <a:t>3,665 líneas backend (Python)
+ 1,412 frontend (JS)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965960"/>
            <a:ext cx="2560320" cy="1920240"/>
          </a:xfrm>
          <a:prstGeom prst="roundRect">
            <a:avLst>
              <a:gd name="adj" fmla="val 10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194560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E8489E"/>
                </a:solidFill>
                <a:latin typeface="Cambria"/>
              </a:rPr>
              <a:t>13.2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8036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5A4351"/>
                </a:solidFill>
                <a:latin typeface="Calibri"/>
              </a:rPr>
              <a:t>persona-mes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24612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B08A9C"/>
                </a:solidFill>
                <a:latin typeface="Calibri"/>
              </a:rPr>
              <a:t>Esfuerzo: E = 2.4 × KLOC¹·⁰⁵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965960"/>
            <a:ext cx="2560320" cy="1920240"/>
          </a:xfrm>
          <a:prstGeom prst="roundRect">
            <a:avLst>
              <a:gd name="adj" fmla="val 10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194560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E8489E"/>
                </a:solidFill>
                <a:latin typeface="Cambria"/>
              </a:rPr>
              <a:t>6.7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88036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5A4351"/>
                </a:solidFill>
                <a:latin typeface="Calibri"/>
              </a:rPr>
              <a:t>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24612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B08A9C"/>
                </a:solidFill>
                <a:latin typeface="Calibri"/>
              </a:rPr>
              <a:t>Tiempo: D = 2.5 × E⁰·³⁸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965960"/>
            <a:ext cx="2560320" cy="1920240"/>
          </a:xfrm>
          <a:prstGeom prst="roundRect">
            <a:avLst>
              <a:gd name="adj" fmla="val 10000"/>
            </a:avLst>
          </a:prstGeom>
          <a:solidFill>
            <a:srgbClr val="FD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194560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E8489E"/>
                </a:solidFill>
                <a:latin typeface="Cambria"/>
              </a:rPr>
              <a:t>≈2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88036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5A4351"/>
                </a:solidFill>
                <a:latin typeface="Calibri"/>
              </a:rPr>
              <a:t>personas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24612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B08A9C"/>
                </a:solidFill>
                <a:latin typeface="Calibri"/>
              </a:rPr>
              <a:t>Personal promedio: P = E / 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60520"/>
            <a:ext cx="10881360" cy="2103120"/>
          </a:xfrm>
          <a:prstGeom prst="roundRect">
            <a:avLst>
              <a:gd name="adj" fmla="val 10000"/>
            </a:avLst>
          </a:prstGeom>
          <a:solidFill>
            <a:srgbClr val="5A4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891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BD9E9"/>
                </a:solidFill>
                <a:latin typeface="Calibri"/>
              </a:rPr>
              <a:t>¿POR QUÉ NO COINCIDE CON LAS ~70 HORAS DE LA PARTE 2?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006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COCOMO está calibrado con proyectos de la industria: equipos profesionales de tiempo completo, construyendo desde cero, sin herramientas de apoyo. Nuestro proyecto es un trabajo académico de dedicación parcial, con mucho patrón reutilizable dentro del propio código.
Las ~70 horas (WBS) reflejan el trabajo real; las ~2,000 horas de COCOMO reflejan lo que costaría replicar este mismo sistema en un entorno profesional de industria.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Cattleya-Flow · Anexo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B08A9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